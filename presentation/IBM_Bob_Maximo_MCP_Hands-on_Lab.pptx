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workshop title and lab sequence.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labs 2, 5, 8, and 9.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User-provided MCP tool model image and workshop scope direction.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User-provided AI Configuration image and explicit workshop scope direction.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lab sequence.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relevant lab section.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workshop takeaway.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Source: IBM Bob-MCP-Lab Guide V3-slide deck.docx, workshop outcomes.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dlboggs/MAC-WS-2026" TargetMode="External"/><Relationship Id="rId5" Type="http://schemas.openxmlformats.org/officeDocument/2006/relationships/hyperlink" Target="https://bob.ibm.com/trial" TargetMode="External"/><Relationship Id="rId4" Type="http://schemas.openxmlformats.org/officeDocument/2006/relationships/hyperlink" Target="https://bob.ibm.com/downloa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1eee34e726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66928" y="502920"/>
            <a:ext cx="100584" cy="525780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68680" y="612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70" dirty="0">
                <a:solidFill>
                  <a:srgbClr val="33B1FF"/>
                </a:solidFill>
              </a:rPr>
              <a:t>IBM EXPERT LABS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107899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</a:rPr>
              <a:t>IBM Bob + Maximo MCP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868680" y="184708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</a:rPr>
              <a:t>Hands-on Lab Experience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96112" y="267919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0E0E0"/>
                </a:solidFill>
              </a:rPr>
              <a:t>External-agent access to governed Maximo tools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896112" y="3840480"/>
            <a:ext cx="1874520" cy="310896"/>
          </a:xfrm>
          <a:prstGeom prst="roundRect">
            <a:avLst>
              <a:gd name="adj" fmla="val 17647"/>
            </a:avLst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9264" y="3904488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 HANDS-ON LABS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907792" y="3840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980944" y="3904488"/>
            <a:ext cx="1088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MAS 9.2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" y="5148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C6C6"/>
                </a:solidFill>
              </a:rPr>
              <a:t>IBM Expert Labs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WORKSHOP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External agent calling governed Maximo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</a:rPr>
              <a:t>The workshop follows one operating pattern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4645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25252"/>
                </a:solidFill>
              </a:rPr>
              <a:t>IBM Bob interprets the request, discovers an available MCP tool, and calls Maximo. Maximo remains the system of control for security, validation, and execution.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342900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" y="3493008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WORKSHOP FOCUS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95020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2FE"/>
                </a:solidFill>
              </a:rPr>
              <a:t>External agent → MCP → Maximo tools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623560" y="196596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A3FFC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88152" y="21305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IBM Bob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88152" y="2532888"/>
            <a:ext cx="1225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External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2441448"/>
            <a:ext cx="502920" cy="420624"/>
          </a:xfrm>
          <a:prstGeom prst="chevron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82128" y="196596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21305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MCP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2532888"/>
            <a:ext cx="1225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Connection + discovery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28048" y="2441448"/>
            <a:ext cx="502920" cy="420624"/>
          </a:xfrm>
          <a:prstGeom prst="chevron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131552" y="196596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33B1FF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296144" y="213055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Maximo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96144" y="2532888"/>
            <a:ext cx="122529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Governed execution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23560" y="4096512"/>
            <a:ext cx="6062472" cy="1143000"/>
          </a:xfrm>
          <a:prstGeom prst="roundRect">
            <a:avLst>
              <a:gd name="adj" fmla="val 4000"/>
            </a:avLst>
          </a:prstGeom>
          <a:solidFill>
            <a:srgbClr val="0B2140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4361688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Natural language remains flexible.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Execution remains controlled.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MAXIMO MCP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Tool patterns available to an external agent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35024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616"/>
                </a:solidFill>
              </a:rPr>
              <a:t>The workshop uses the standard MCP tool framework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1847088"/>
            <a:ext cx="2450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Object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2414016"/>
            <a:ext cx="21214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Structured Maximo operations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847088"/>
            <a:ext cx="2450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33B1FF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7872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Automation Script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7872" y="2414016"/>
            <a:ext cx="21214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Deterministic custom logic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847088"/>
            <a:ext cx="2450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A3FFC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36792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Workflow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36792" y="2414016"/>
            <a:ext cx="21214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Governed process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847088"/>
            <a:ext cx="24505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D02670"/>
            </a:solidFill>
            <a:prstDash val="solid"/>
          </a:ln>
          <a:effectLst>
            <a:outerShdw blurRad="19050" dist="1016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25712" y="201168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1616"/>
                </a:solidFill>
              </a:rPr>
              <a:t>API Route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25712" y="2414016"/>
            <a:ext cx="21214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25252"/>
                </a:solidFill>
              </a:rPr>
              <a:t>Purpose-built API capability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17320" y="3767328"/>
            <a:ext cx="9326880" cy="713232"/>
          </a:xfrm>
          <a:prstGeom prst="roundRect">
            <a:avLst>
              <a:gd name="adj" fmla="val 6410"/>
            </a:avLst>
          </a:prstGeom>
          <a:solidFill>
            <a:srgbClr val="0B2140"/>
          </a:solidFill>
          <a:ln w="1524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83080" y="39867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Registered for external MCP invocation through the Maximo tool framework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926080" y="4882896"/>
            <a:ext cx="6355080" cy="658368"/>
          </a:xfrm>
          <a:prstGeom prst="roundRect">
            <a:avLst>
              <a:gd name="adj" fmla="val 6944"/>
            </a:avLst>
          </a:prstGeom>
          <a:solidFill>
            <a:srgbClr val="E8F1FF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18688" y="5074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6"/>
                </a:solidFill>
              </a:rPr>
              <a:t>Selected Maximo capabilities become tools. Not every REST API is exposed as an MCP tool.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WORKSHOP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Focused on external-agent tool invocation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4F8FF"/>
          </a:solidFill>
          <a:ln w="1905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32688" y="1719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10" dirty="0">
                <a:solidFill>
                  <a:srgbClr val="0F62FE"/>
                </a:solidFill>
              </a:rPr>
              <a:t>IN SCOPE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240280"/>
            <a:ext cx="452628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Connect IBM Bob to Maximo through MCP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Discover and invoke published Maximo tools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Use Object Structure tools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Create an Automation Script tool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Use read-only tools for asset and PM analysis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Keep execution governed by Maximo controls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4496" y="1417320"/>
            <a:ext cx="5349240" cy="4526280"/>
          </a:xfrm>
          <a:prstGeom prst="roundRect">
            <a:avLst>
              <a:gd name="adj" fmla="val 1212"/>
            </a:avLst>
          </a:prstGeom>
          <a:solidFill>
            <a:srgbClr val="F4F4F4"/>
          </a:solidFill>
          <a:ln w="1524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719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5" dirty="0">
                <a:solidFill>
                  <a:srgbClr val="6F6F6F"/>
                </a:solidFill>
              </a:rPr>
              <a:t>OUTSIDE THIS WORKSHOP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01968" y="2212848"/>
            <a:ext cx="4645152" cy="1097280"/>
          </a:xfrm>
          <a:prstGeom prst="roundRect">
            <a:avLst>
              <a:gd name="adj" fmla="val 6667"/>
            </a:avLst>
          </a:prstGeom>
          <a:solidFill>
            <a:srgbClr val="E0E0E0"/>
          </a:solidFill>
          <a:ln w="1905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0" y="237744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F6F6F"/>
                </a:solidFill>
              </a:rPr>
              <a:t>AI Configuration tools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779776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F6F6F"/>
                </a:solidFill>
              </a:rPr>
              <a:t>Separate activation and registry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3703320"/>
            <a:ext cx="42976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</a:rPr>
              <a:t>Internal AI Configuration processing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</a:rPr>
              <a:t>AI Configuration inference setup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61616"/>
                </a:solidFill>
              </a:rPr>
              <a:t>MAXAICFGTOOL administration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5074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5252"/>
                </a:solidFill>
              </a:rPr>
              <a:t>The distinction keeps the hands-on experience centered on an external agent calling Maximo tools.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925cffa7fd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6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384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3B1FF"/>
                </a:solidFill>
              </a:rPr>
              <a:t>THE LEARNING JOURNEY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7589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Build confidence, then build capability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4370832"/>
            <a:ext cx="2514600" cy="1225296"/>
          </a:xfrm>
          <a:prstGeom prst="roundRect">
            <a:avLst>
              <a:gd name="adj" fmla="val 5970"/>
            </a:avLst>
          </a:prstGeom>
          <a:solidFill>
            <a:srgbClr val="0B2140">
              <a:alpha val="92000"/>
            </a:srgbClr>
          </a:solidFill>
          <a:ln w="1524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04672" y="4535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B1FF"/>
                </a:solidFill>
              </a:rPr>
              <a:t>01–04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4800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51389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1E6"/>
                </a:solidFill>
              </a:rPr>
              <a:t>Install, connect, configure, navigate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93008" y="4370832"/>
            <a:ext cx="2514600" cy="1225296"/>
          </a:xfrm>
          <a:prstGeom prst="roundRect">
            <a:avLst>
              <a:gd name="adj" fmla="val 5970"/>
            </a:avLst>
          </a:prstGeom>
          <a:solidFill>
            <a:srgbClr val="0B2140">
              <a:alpha val="92000"/>
            </a:srgbClr>
          </a:solidFill>
          <a:ln w="1524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0" y="4535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B1FF"/>
                </a:solidFill>
              </a:rPr>
              <a:t>05–07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4800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Operate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0" y="51389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1E6"/>
                </a:solidFill>
              </a:rPr>
              <a:t>Discover tools and work in plain language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45936" y="4370832"/>
            <a:ext cx="2514600" cy="1225296"/>
          </a:xfrm>
          <a:prstGeom prst="roundRect">
            <a:avLst>
              <a:gd name="adj" fmla="val 5970"/>
            </a:avLst>
          </a:prstGeom>
          <a:solidFill>
            <a:srgbClr val="0B2140">
              <a:alpha val="92000"/>
            </a:srgbClr>
          </a:solidFill>
          <a:ln w="1524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10528" y="4535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B1FF"/>
                </a:solidFill>
              </a:rPr>
              <a:t>08–09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10528" y="4800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Extend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10528" y="51389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1E6"/>
                </a:solidFill>
              </a:rPr>
              <a:t>Enable native tools and create custom logic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98864" y="4370832"/>
            <a:ext cx="2514600" cy="1225296"/>
          </a:xfrm>
          <a:prstGeom prst="roundRect">
            <a:avLst>
              <a:gd name="adj" fmla="val 5970"/>
            </a:avLst>
          </a:prstGeom>
          <a:solidFill>
            <a:srgbClr val="0B2140">
              <a:alpha val="92000"/>
            </a:srgbClr>
          </a:solidFill>
          <a:ln w="1524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363456" y="4535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B1FF"/>
                </a:solidFill>
              </a:rPr>
              <a:t>10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63456" y="4800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Analyze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363456" y="51389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1E6"/>
                </a:solidFill>
              </a:rPr>
              <a:t>Combine asset and PM data into insights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Install Bob and Open the Workspace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Establish a working IBM Bob environment before connecting to Maximo.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Install the correct Windows or macOS package and authenticate with an IBMid.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Open the instructor-provided workspace and confirm the .bob configuration is present.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Validate the chat experience with a simple readiness prompt.</a:t>
            </a:r>
          </a:p>
          <a:p>
            <a:pPr marL="177800" indent="-177800">
              <a:buSzPct val="100000"/>
              <a:buChar char="•"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FOUNDATION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1e38b4d909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A3923-5186-5353-BBA3-B521A5DAAE92}"/>
              </a:ext>
            </a:extLst>
          </p:cNvPr>
          <p:cNvSpPr txBox="1"/>
          <p:nvPr/>
        </p:nvSpPr>
        <p:spPr>
          <a:xfrm>
            <a:off x="1034681" y="4453285"/>
            <a:ext cx="44669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https://bob.ibm.com/download</a:t>
            </a:r>
            <a:endParaRPr lang="en-US" dirty="0"/>
          </a:p>
          <a:p>
            <a:r>
              <a:rPr lang="en-US" dirty="0">
                <a:hlinkClick r:id="rId5"/>
              </a:rPr>
              <a:t>https://bob.ibm.com/trial</a:t>
            </a:r>
            <a:r>
              <a:rPr lang="en-US" dirty="0"/>
              <a:t> </a:t>
            </a:r>
          </a:p>
          <a:p>
            <a:r>
              <a:rPr lang="en-US" dirty="0">
                <a:hlinkClick r:id="rId6"/>
              </a:rPr>
              <a:t>https://github.com/dlboggs/MAC-WS-2026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Connect Maximo to Bob via MCP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Create the secured workspace-scoped connection that enables Bob to invoke Maximo capabilities.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Locate the Maximo MCP route and prepare access to the lab instance.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Use a Maximo API key in the workspace mcp.json configuration.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Verify the server reports Connected and protect workspace credentials.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CONNECT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f67e32672c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Configure Bob Rules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Give Bob the endpoint, credentials, and guidance needed to interact efficiently with Maximo.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Update the maximo.md rule file with REST API and MCP service values.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Use MCP tools and query templates to reduce trial-and-error and token consumption.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Start a new chat when needed so updated workspace rules are loaded.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CONFIGURE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image.png"/>
          <p:cNvPicPr>
            <a:picLocks noChangeAspect="1"/>
          </p:cNvPicPr>
          <p:nvPr/>
        </p:nvPicPr>
        <p:blipFill>
          <a:blip r:embed="rId3"/>
          <a:srcRect l="15716" r="15716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Navigate the Bob Workspace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Orient participants to the workspace, chat, settings, modes, skills, and MCP tool inventory.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Use Explorer, editor, and chat as one integrated environment.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Review usage, approval controls, and MCP connection status.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Understand modes as specialized behaviors and skills as reusable instruction sets.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0F62F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ORIENT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1e38b4d909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Discover Maximo MCP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See how Bob discovers available capabilities and uses schema knowledge from the live Maximo environment.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Ask Bob which Maximo MCP tools are currently available.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Invoke apischema to retrieve fields and data types for Maximo records.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Recognize that the published tool set expands as capabilities are enabled.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DISCOVER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f67e32672c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Create a Service Request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Turn a plain-language maintenance report into a trackable Maximo service request.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Describe the asset issue conversationally, using asset 11450 as the lab context.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Confirm intent and provide missing details when prompted.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Capture the returned service request number for downstream exercises.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ACT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323c638de7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Operate Maximo in Plain Language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Use conversation to query, filter, update, and create connected maintenance records.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Retrieve assets, locations, work orders, and job plans without constructing API calls.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Carry context forward to narrow results and update multiple asset statuses.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Create a work order from a job plan and associate it to the service request.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8A3F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OPERATE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323c638de7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Enable Object Structure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33B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Replace repeated API reasoning with native Maximo tools designed for agent invocation.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Activate CREATESR on MXAPISR and CREATEFOLLOWUPWORKORDER on MXAPIWODETAIL.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Refresh Bob and verify the os_ tools are published through MCP.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Compare direct tool execution with REST construction for reliability, consistency, speed, and token use.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33B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5d3af2eb2f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Create an Automation Script MCP Tool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33B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Build a governed Inspection Failure Advisor with structured inputs, outputs, and deterministic logic.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Create the automation script, literal input variable, and response schema.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Publish the script as an MCP tool and validate natural-language invocation.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Separate semantic classification in the agent from auditable business rules in Maximo.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33B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GOVERN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bf1208c367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LAB 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Perform Asset and PM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73152" cy="4526280"/>
          </a:xfrm>
          <a:prstGeom prst="rect">
            <a:avLst/>
          </a:prstGeom>
          <a:solidFill>
            <a:srgbClr val="33B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</a:rPr>
              <a:t>Orchestrate read-only tools to turn operational data into a client-ready analytical artifact.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470916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Build Asset and PM query tools with structured response schemas.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Retrieve warranty, cost, operating status, maintenance history, and next-due information.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61616"/>
                </a:solidFill>
              </a:rPr>
              <a:t>Ask Bob to synthesize risk findings and render a shareable HTML report.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33B1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779008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ANALYZE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51576" y="1389888"/>
            <a:ext cx="5971032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A8A8A8">
                <a:alpha val="50000"/>
              </a:srgbClr>
            </a:solidFill>
            <a:prstDash val="solid"/>
          </a:ln>
          <a:effectLst>
            <a:outerShdw blurRad="22860" dist="1016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/mnt/data/2dd463ad58.png"/>
          <p:cNvPicPr>
            <a:picLocks noChangeAspect="1"/>
          </p:cNvPicPr>
          <p:nvPr/>
        </p:nvPicPr>
        <p:blipFill>
          <a:blip r:embed="rId3"/>
          <a:srcRect l="6165" r="6165"/>
          <a:stretch/>
        </p:blipFill>
        <p:spPr>
          <a:xfrm>
            <a:off x="5779008" y="1417320"/>
            <a:ext cx="5916168" cy="44988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0F62FE"/>
                </a:solidFill>
              </a:rPr>
              <a:t>WORKSHOP TAKEAWAY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1616"/>
                </a:solidFill>
              </a:rPr>
              <a:t>From conversation to controlled execution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155680" y="329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D8D8D"/>
                </a:solidFill>
              </a:rPr>
              <a:t>16</a:t>
            </a:r>
            <a:endParaRPr lang="en-US" sz="1000" dirty="0"/>
          </a:p>
        </p:txBody>
      </p:sp>
      <p:pic>
        <p:nvPicPr>
          <p:cNvPr id="6" name="Image 0" descr="/mnt/data/bf1208c367.png"/>
          <p:cNvPicPr>
            <a:picLocks noChangeAspect="1"/>
          </p:cNvPicPr>
          <p:nvPr/>
        </p:nvPicPr>
        <p:blipFill>
          <a:blip r:embed="rId3"/>
          <a:srcRect t="17655" b="17655"/>
          <a:stretch/>
        </p:blipFill>
        <p:spPr>
          <a:xfrm>
            <a:off x="0" y="1207008"/>
            <a:ext cx="12191695" cy="525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207008"/>
            <a:ext cx="12191695" cy="5257800"/>
          </a:xfrm>
          <a:prstGeom prst="rect">
            <a:avLst/>
          </a:prstGeom>
          <a:solidFill>
            <a:srgbClr val="07182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5800" y="205740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07182D">
              <a:alpha val="94000"/>
            </a:srgbClr>
          </a:solidFill>
          <a:ln w="19050">
            <a:solidFill>
              <a:srgbClr val="D026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EB6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44168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User intent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14400" y="2944368"/>
            <a:ext cx="2816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</a:rPr>
              <a:t>Describe the maintenance outcome in natural language.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480560" y="205740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07182D">
              <a:alpha val="94000"/>
            </a:srgbClr>
          </a:solidFill>
          <a:ln w="1905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6344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B1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38928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Bob reasoning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4709160" y="2944368"/>
            <a:ext cx="2816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</a:rPr>
              <a:t>Interpret context, classify meaning, and select the right tool.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75320" y="205740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07182D">
              <a:alpha val="94000"/>
            </a:srgbClr>
          </a:solidFill>
          <a:ln w="19050">
            <a:solidFill>
              <a:srgbClr val="33B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5820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8A9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933688" y="2286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Maximo control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503920" y="2944368"/>
            <a:ext cx="2816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0E0E0"/>
                </a:solidFill>
              </a:rPr>
              <a:t>Apply deterministic rules and execute within enterprise security.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7280" y="5166360"/>
            <a:ext cx="10012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Language remains flexible. Execution remains governed.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02920" y="6510528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F6F6F"/>
                </a:solidFill>
              </a:rPr>
              <a:t>IBM Expert Labs  |  Maximo Application Suite 9.2 MCP Enablement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966960" y="6583680"/>
            <a:ext cx="1691640" cy="914"/>
          </a:xfrm>
          <a:prstGeom prst="line">
            <a:avLst/>
          </a:prstGeom>
          <a:noFill/>
          <a:ln w="254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1eee34e726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D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685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70" dirty="0">
                <a:solidFill>
                  <a:srgbClr val="33B1FF"/>
                </a:solidFill>
              </a:rPr>
              <a:t>LEAVE WITH A WORKING PATTERN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85800" y="1143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</a:rPr>
              <a:t>Connect. Discover. Extend. Analyze.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13232" y="2103120"/>
            <a:ext cx="6217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0E0E0"/>
                </a:solidFill>
              </a:rPr>
              <a:t>Participants finish with practical experience using IBM Bob as a governed conversational interface to Maximo, from first connection through custom MCP tools and operational analysis.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" y="3675888"/>
            <a:ext cx="2880360" cy="530352"/>
          </a:xfrm>
          <a:prstGeom prst="roundRect">
            <a:avLst>
              <a:gd name="adj" fmla="val 10345"/>
            </a:avLst>
          </a:prstGeom>
          <a:solidFill>
            <a:srgbClr val="0B2140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" y="37947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E65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25296" y="3803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connected Bob workspace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50208" y="3675888"/>
            <a:ext cx="2880360" cy="530352"/>
          </a:xfrm>
          <a:prstGeom prst="roundRect">
            <a:avLst>
              <a:gd name="adj" fmla="val 10345"/>
            </a:avLst>
          </a:prstGeom>
          <a:solidFill>
            <a:srgbClr val="0B2140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05656" y="37947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E65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25696" y="3803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Native and custom MCP tools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9808" y="4480560"/>
            <a:ext cx="2880360" cy="530352"/>
          </a:xfrm>
          <a:prstGeom prst="roundRect">
            <a:avLst>
              <a:gd name="adj" fmla="val 10345"/>
            </a:avLst>
          </a:prstGeom>
          <a:solidFill>
            <a:srgbClr val="0B2140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5256" y="45994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E65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25296" y="46085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repeatable maintenance workflow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950208" y="4480560"/>
            <a:ext cx="2880360" cy="530352"/>
          </a:xfrm>
          <a:prstGeom prst="roundRect">
            <a:avLst>
              <a:gd name="adj" fmla="val 10345"/>
            </a:avLst>
          </a:prstGeom>
          <a:solidFill>
            <a:srgbClr val="0B2140"/>
          </a:solidFill>
          <a:ln w="12700">
            <a:solidFill>
              <a:srgbClr val="0F6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05656" y="45994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BE65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425696" y="46085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 client-ready analysis artifact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1744</Words>
  <Application>Microsoft Macintosh PowerPoint</Application>
  <PresentationFormat>Widescreen</PresentationFormat>
  <Paragraphs>222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Bob + Maximo MCP Hands-on Lab Overview</dc:title>
  <dc:subject>IBM Bob + Maximo MCP Hands-on Labs</dc:subject>
  <dc:creator>DAVID Boggs</dc:creator>
  <cp:lastModifiedBy>DAVID Boggs</cp:lastModifiedBy>
  <cp:revision>3</cp:revision>
  <dcterms:created xsi:type="dcterms:W3CDTF">2026-09-19T21:11:27Z</dcterms:created>
  <dcterms:modified xsi:type="dcterms:W3CDTF">2026-09-20T13:15:27Z</dcterms:modified>
</cp:coreProperties>
</file>